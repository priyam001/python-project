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61" r:id="rId2"/>
    <p:sldId id="256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68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33F97A-02E3-4151-B4E1-F871A5A6483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A9DD7A-0287-4EC4-964F-17472208C525}">
      <dgm:prSet/>
      <dgm:spPr/>
      <dgm:t>
        <a:bodyPr/>
        <a:lstStyle/>
        <a:p>
          <a:r>
            <a:rPr lang="en-US" b="1"/>
            <a:t>Models Evaluated (with class weighting for imbalance):</a:t>
          </a:r>
          <a:endParaRPr lang="en-US"/>
        </a:p>
      </dgm:t>
    </dgm:pt>
    <dgm:pt modelId="{50AF6FBE-D1A0-4AE6-8401-F620AF455DBB}" type="parTrans" cxnId="{CAD775E8-F77E-4152-B1E8-2A0135ABB038}">
      <dgm:prSet/>
      <dgm:spPr/>
      <dgm:t>
        <a:bodyPr/>
        <a:lstStyle/>
        <a:p>
          <a:endParaRPr lang="en-US"/>
        </a:p>
      </dgm:t>
    </dgm:pt>
    <dgm:pt modelId="{68F2C21E-29B3-497F-895D-E3E1F12434C1}" type="sibTrans" cxnId="{CAD775E8-F77E-4152-B1E8-2A0135ABB038}">
      <dgm:prSet/>
      <dgm:spPr/>
      <dgm:t>
        <a:bodyPr/>
        <a:lstStyle/>
        <a:p>
          <a:endParaRPr lang="en-US"/>
        </a:p>
      </dgm:t>
    </dgm:pt>
    <dgm:pt modelId="{6727148C-4F11-49DC-BABA-6771278DA764}">
      <dgm:prSet/>
      <dgm:spPr/>
      <dgm:t>
        <a:bodyPr/>
        <a:lstStyle/>
        <a:p>
          <a:r>
            <a:rPr lang="en-US"/>
            <a:t>• Logistic Regression</a:t>
          </a:r>
        </a:p>
      </dgm:t>
    </dgm:pt>
    <dgm:pt modelId="{C723FA31-0930-4090-8716-980E66E90574}" type="parTrans" cxnId="{8A4B5370-B224-45A2-9063-956BF9A4E1F7}">
      <dgm:prSet/>
      <dgm:spPr/>
      <dgm:t>
        <a:bodyPr/>
        <a:lstStyle/>
        <a:p>
          <a:endParaRPr lang="en-US"/>
        </a:p>
      </dgm:t>
    </dgm:pt>
    <dgm:pt modelId="{1289BDCB-182F-40AC-9B4B-C9175FA0C120}" type="sibTrans" cxnId="{8A4B5370-B224-45A2-9063-956BF9A4E1F7}">
      <dgm:prSet/>
      <dgm:spPr/>
      <dgm:t>
        <a:bodyPr/>
        <a:lstStyle/>
        <a:p>
          <a:endParaRPr lang="en-US"/>
        </a:p>
      </dgm:t>
    </dgm:pt>
    <dgm:pt modelId="{3FD5F4E0-BAE9-42D7-813A-F3412B9EA727}">
      <dgm:prSet/>
      <dgm:spPr/>
      <dgm:t>
        <a:bodyPr/>
        <a:lstStyle/>
        <a:p>
          <a:r>
            <a:rPr lang="en-US"/>
            <a:t>• Multinomial Naive Bayes</a:t>
          </a:r>
        </a:p>
      </dgm:t>
    </dgm:pt>
    <dgm:pt modelId="{27351893-8410-4252-9D93-AA57EB6F72A9}" type="parTrans" cxnId="{FA8ABEDC-6C50-4D48-9AC0-189F9D6F1386}">
      <dgm:prSet/>
      <dgm:spPr/>
      <dgm:t>
        <a:bodyPr/>
        <a:lstStyle/>
        <a:p>
          <a:endParaRPr lang="en-US"/>
        </a:p>
      </dgm:t>
    </dgm:pt>
    <dgm:pt modelId="{12C41DCE-D094-44C8-9ECC-C00B9F18225D}" type="sibTrans" cxnId="{FA8ABEDC-6C50-4D48-9AC0-189F9D6F1386}">
      <dgm:prSet/>
      <dgm:spPr/>
      <dgm:t>
        <a:bodyPr/>
        <a:lstStyle/>
        <a:p>
          <a:endParaRPr lang="en-US"/>
        </a:p>
      </dgm:t>
    </dgm:pt>
    <dgm:pt modelId="{A46656AB-CB08-44F1-BE5A-E6972A088081}">
      <dgm:prSet/>
      <dgm:spPr/>
      <dgm:t>
        <a:bodyPr/>
        <a:lstStyle/>
        <a:p>
          <a:r>
            <a:rPr lang="en-US"/>
            <a:t>• Random Forest Classifier</a:t>
          </a:r>
        </a:p>
      </dgm:t>
    </dgm:pt>
    <dgm:pt modelId="{EF652704-F9E2-4486-81AC-0F7975C4CAEE}" type="parTrans" cxnId="{9684F329-49EA-419A-999E-0B794B56AB1E}">
      <dgm:prSet/>
      <dgm:spPr/>
      <dgm:t>
        <a:bodyPr/>
        <a:lstStyle/>
        <a:p>
          <a:endParaRPr lang="en-US"/>
        </a:p>
      </dgm:t>
    </dgm:pt>
    <dgm:pt modelId="{8FD0BECB-D091-4BE7-8F22-D30EE30D4310}" type="sibTrans" cxnId="{9684F329-49EA-419A-999E-0B794B56AB1E}">
      <dgm:prSet/>
      <dgm:spPr/>
      <dgm:t>
        <a:bodyPr/>
        <a:lstStyle/>
        <a:p>
          <a:endParaRPr lang="en-US"/>
        </a:p>
      </dgm:t>
    </dgm:pt>
    <dgm:pt modelId="{69ED687F-1AE6-4870-84AD-3047AFE4C62D}">
      <dgm:prSet/>
      <dgm:spPr/>
      <dgm:t>
        <a:bodyPr/>
        <a:lstStyle/>
        <a:p>
          <a:r>
            <a:rPr lang="en-US"/>
            <a:t>• Linear Support Vector Machine (SVM) - *Best Performer*</a:t>
          </a:r>
        </a:p>
      </dgm:t>
    </dgm:pt>
    <dgm:pt modelId="{D11A1CFF-B353-485E-BF7F-64ED7DA55FF5}" type="parTrans" cxnId="{AC6993A3-2C3D-4A85-8E8F-4A9162B2B3A3}">
      <dgm:prSet/>
      <dgm:spPr/>
      <dgm:t>
        <a:bodyPr/>
        <a:lstStyle/>
        <a:p>
          <a:endParaRPr lang="en-US"/>
        </a:p>
      </dgm:t>
    </dgm:pt>
    <dgm:pt modelId="{896E0EA4-73AA-446C-9831-85C8D8C2A79B}" type="sibTrans" cxnId="{AC6993A3-2C3D-4A85-8E8F-4A9162B2B3A3}">
      <dgm:prSet/>
      <dgm:spPr/>
      <dgm:t>
        <a:bodyPr/>
        <a:lstStyle/>
        <a:p>
          <a:endParaRPr lang="en-US"/>
        </a:p>
      </dgm:t>
    </dgm:pt>
    <dgm:pt modelId="{F9460CF6-7056-4374-90D6-C6877AEA7F0A}" type="pres">
      <dgm:prSet presAssocID="{5033F97A-02E3-4151-B4E1-F871A5A6483A}" presName="root" presStyleCnt="0">
        <dgm:presLayoutVars>
          <dgm:dir/>
          <dgm:resizeHandles val="exact"/>
        </dgm:presLayoutVars>
      </dgm:prSet>
      <dgm:spPr/>
    </dgm:pt>
    <dgm:pt modelId="{3E69854D-CD29-4DD1-91E7-8544530A82B3}" type="pres">
      <dgm:prSet presAssocID="{24A9DD7A-0287-4EC4-964F-17472208C525}" presName="compNode" presStyleCnt="0"/>
      <dgm:spPr/>
    </dgm:pt>
    <dgm:pt modelId="{C33DFB52-806D-4834-B7D7-75526787DA23}" type="pres">
      <dgm:prSet presAssocID="{24A9DD7A-0287-4EC4-964F-17472208C525}" presName="bgRect" presStyleLbl="bgShp" presStyleIdx="0" presStyleCnt="5"/>
      <dgm:spPr/>
    </dgm:pt>
    <dgm:pt modelId="{0754A9D9-CD17-4842-925A-6992D2D508FA}" type="pres">
      <dgm:prSet presAssocID="{24A9DD7A-0287-4EC4-964F-17472208C52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811BC048-1BED-48E7-BCE7-EE04504B1180}" type="pres">
      <dgm:prSet presAssocID="{24A9DD7A-0287-4EC4-964F-17472208C525}" presName="spaceRect" presStyleCnt="0"/>
      <dgm:spPr/>
    </dgm:pt>
    <dgm:pt modelId="{21E21DF6-18B7-4387-91FF-629D13B540D6}" type="pres">
      <dgm:prSet presAssocID="{24A9DD7A-0287-4EC4-964F-17472208C525}" presName="parTx" presStyleLbl="revTx" presStyleIdx="0" presStyleCnt="5">
        <dgm:presLayoutVars>
          <dgm:chMax val="0"/>
          <dgm:chPref val="0"/>
        </dgm:presLayoutVars>
      </dgm:prSet>
      <dgm:spPr/>
    </dgm:pt>
    <dgm:pt modelId="{61240111-4A01-4F9B-8A9C-8EB86C7DA237}" type="pres">
      <dgm:prSet presAssocID="{68F2C21E-29B3-497F-895D-E3E1F12434C1}" presName="sibTrans" presStyleCnt="0"/>
      <dgm:spPr/>
    </dgm:pt>
    <dgm:pt modelId="{5160A2B5-F5A4-4E22-83D9-C1B49E0CFFE1}" type="pres">
      <dgm:prSet presAssocID="{6727148C-4F11-49DC-BABA-6771278DA764}" presName="compNode" presStyleCnt="0"/>
      <dgm:spPr/>
    </dgm:pt>
    <dgm:pt modelId="{618DAB86-6562-401A-81B2-21713367C10B}" type="pres">
      <dgm:prSet presAssocID="{6727148C-4F11-49DC-BABA-6771278DA764}" presName="bgRect" presStyleLbl="bgShp" presStyleIdx="1" presStyleCnt="5"/>
      <dgm:spPr/>
    </dgm:pt>
    <dgm:pt modelId="{9665FF71-72E9-4EE7-900D-BDA54C3AFE87}" type="pres">
      <dgm:prSet presAssocID="{6727148C-4F11-49DC-BABA-6771278DA76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159954F-5D2F-40EA-B8BD-C37D80D5DD5B}" type="pres">
      <dgm:prSet presAssocID="{6727148C-4F11-49DC-BABA-6771278DA764}" presName="spaceRect" presStyleCnt="0"/>
      <dgm:spPr/>
    </dgm:pt>
    <dgm:pt modelId="{9E7FED8E-5059-47D9-83AC-7CED31884575}" type="pres">
      <dgm:prSet presAssocID="{6727148C-4F11-49DC-BABA-6771278DA764}" presName="parTx" presStyleLbl="revTx" presStyleIdx="1" presStyleCnt="5">
        <dgm:presLayoutVars>
          <dgm:chMax val="0"/>
          <dgm:chPref val="0"/>
        </dgm:presLayoutVars>
      </dgm:prSet>
      <dgm:spPr/>
    </dgm:pt>
    <dgm:pt modelId="{91AB6EF5-79A9-4161-9A8C-FC689AFB8C51}" type="pres">
      <dgm:prSet presAssocID="{1289BDCB-182F-40AC-9B4B-C9175FA0C120}" presName="sibTrans" presStyleCnt="0"/>
      <dgm:spPr/>
    </dgm:pt>
    <dgm:pt modelId="{3AC1DCC2-B01F-4906-AF64-85BEA3584C79}" type="pres">
      <dgm:prSet presAssocID="{3FD5F4E0-BAE9-42D7-813A-F3412B9EA727}" presName="compNode" presStyleCnt="0"/>
      <dgm:spPr/>
    </dgm:pt>
    <dgm:pt modelId="{564EFC81-1274-45A1-BC32-19084498FEEF}" type="pres">
      <dgm:prSet presAssocID="{3FD5F4E0-BAE9-42D7-813A-F3412B9EA727}" presName="bgRect" presStyleLbl="bgShp" presStyleIdx="2" presStyleCnt="5"/>
      <dgm:spPr/>
    </dgm:pt>
    <dgm:pt modelId="{89F3196F-08FB-42FE-A98A-4AD7A3C10AA1}" type="pres">
      <dgm:prSet presAssocID="{3FD5F4E0-BAE9-42D7-813A-F3412B9EA72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01E5C99-3150-49FC-9A44-D1DDEABC8E1F}" type="pres">
      <dgm:prSet presAssocID="{3FD5F4E0-BAE9-42D7-813A-F3412B9EA727}" presName="spaceRect" presStyleCnt="0"/>
      <dgm:spPr/>
    </dgm:pt>
    <dgm:pt modelId="{EBDB62A9-0515-4350-8F3F-2B1C37386D5D}" type="pres">
      <dgm:prSet presAssocID="{3FD5F4E0-BAE9-42D7-813A-F3412B9EA727}" presName="parTx" presStyleLbl="revTx" presStyleIdx="2" presStyleCnt="5">
        <dgm:presLayoutVars>
          <dgm:chMax val="0"/>
          <dgm:chPref val="0"/>
        </dgm:presLayoutVars>
      </dgm:prSet>
      <dgm:spPr/>
    </dgm:pt>
    <dgm:pt modelId="{017B6534-2110-498C-BC9E-066E049B26B3}" type="pres">
      <dgm:prSet presAssocID="{12C41DCE-D094-44C8-9ECC-C00B9F18225D}" presName="sibTrans" presStyleCnt="0"/>
      <dgm:spPr/>
    </dgm:pt>
    <dgm:pt modelId="{65EF6157-B3DF-4DCA-92CC-0E753EB3E1E1}" type="pres">
      <dgm:prSet presAssocID="{A46656AB-CB08-44F1-BE5A-E6972A088081}" presName="compNode" presStyleCnt="0"/>
      <dgm:spPr/>
    </dgm:pt>
    <dgm:pt modelId="{BB3F17CC-FB57-4461-8D36-6DF00CA44FC0}" type="pres">
      <dgm:prSet presAssocID="{A46656AB-CB08-44F1-BE5A-E6972A088081}" presName="bgRect" presStyleLbl="bgShp" presStyleIdx="3" presStyleCnt="5"/>
      <dgm:spPr/>
    </dgm:pt>
    <dgm:pt modelId="{AB7A177E-30EC-41D8-8A8C-9C0B2B76CE47}" type="pres">
      <dgm:prSet presAssocID="{A46656AB-CB08-44F1-BE5A-E6972A08808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DEE468F6-D908-467A-92AF-96C854C34B87}" type="pres">
      <dgm:prSet presAssocID="{A46656AB-CB08-44F1-BE5A-E6972A088081}" presName="spaceRect" presStyleCnt="0"/>
      <dgm:spPr/>
    </dgm:pt>
    <dgm:pt modelId="{AB51782B-E830-42CB-8912-1D6F8B9713A9}" type="pres">
      <dgm:prSet presAssocID="{A46656AB-CB08-44F1-BE5A-E6972A088081}" presName="parTx" presStyleLbl="revTx" presStyleIdx="3" presStyleCnt="5">
        <dgm:presLayoutVars>
          <dgm:chMax val="0"/>
          <dgm:chPref val="0"/>
        </dgm:presLayoutVars>
      </dgm:prSet>
      <dgm:spPr/>
    </dgm:pt>
    <dgm:pt modelId="{967A7203-2883-4E2A-BF37-7481A429F653}" type="pres">
      <dgm:prSet presAssocID="{8FD0BECB-D091-4BE7-8F22-D30EE30D4310}" presName="sibTrans" presStyleCnt="0"/>
      <dgm:spPr/>
    </dgm:pt>
    <dgm:pt modelId="{4DD0C0D1-EFF9-4367-9716-8BB88D165070}" type="pres">
      <dgm:prSet presAssocID="{69ED687F-1AE6-4870-84AD-3047AFE4C62D}" presName="compNode" presStyleCnt="0"/>
      <dgm:spPr/>
    </dgm:pt>
    <dgm:pt modelId="{12F7FFF9-4C03-4A09-A96A-A36CEA11595F}" type="pres">
      <dgm:prSet presAssocID="{69ED687F-1AE6-4870-84AD-3047AFE4C62D}" presName="bgRect" presStyleLbl="bgShp" presStyleIdx="4" presStyleCnt="5"/>
      <dgm:spPr/>
    </dgm:pt>
    <dgm:pt modelId="{41029D9A-D3F8-48F2-A996-E0A8A6BBCEF6}" type="pres">
      <dgm:prSet presAssocID="{69ED687F-1AE6-4870-84AD-3047AFE4C62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AE7A750E-96F8-4B20-A0CC-42ED0609B7B8}" type="pres">
      <dgm:prSet presAssocID="{69ED687F-1AE6-4870-84AD-3047AFE4C62D}" presName="spaceRect" presStyleCnt="0"/>
      <dgm:spPr/>
    </dgm:pt>
    <dgm:pt modelId="{F823564E-0497-43E6-A011-92BC05F680BF}" type="pres">
      <dgm:prSet presAssocID="{69ED687F-1AE6-4870-84AD-3047AFE4C62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EAE5B10-8C43-4DC9-9A1D-CAABCC7B71A0}" type="presOf" srcId="{A46656AB-CB08-44F1-BE5A-E6972A088081}" destId="{AB51782B-E830-42CB-8912-1D6F8B9713A9}" srcOrd="0" destOrd="0" presId="urn:microsoft.com/office/officeart/2018/2/layout/IconVerticalSolidList"/>
    <dgm:cxn modelId="{9684F329-49EA-419A-999E-0B794B56AB1E}" srcId="{5033F97A-02E3-4151-B4E1-F871A5A6483A}" destId="{A46656AB-CB08-44F1-BE5A-E6972A088081}" srcOrd="3" destOrd="0" parTransId="{EF652704-F9E2-4486-81AC-0F7975C4CAEE}" sibTransId="{8FD0BECB-D091-4BE7-8F22-D30EE30D4310}"/>
    <dgm:cxn modelId="{B5EDC732-EA9C-4EA8-8585-0A16774B87B6}" type="presOf" srcId="{5033F97A-02E3-4151-B4E1-F871A5A6483A}" destId="{F9460CF6-7056-4374-90D6-C6877AEA7F0A}" srcOrd="0" destOrd="0" presId="urn:microsoft.com/office/officeart/2018/2/layout/IconVerticalSolidList"/>
    <dgm:cxn modelId="{F7B4BA64-1955-4D1C-B7E4-FA35A82F9D3D}" type="presOf" srcId="{6727148C-4F11-49DC-BABA-6771278DA764}" destId="{9E7FED8E-5059-47D9-83AC-7CED31884575}" srcOrd="0" destOrd="0" presId="urn:microsoft.com/office/officeart/2018/2/layout/IconVerticalSolidList"/>
    <dgm:cxn modelId="{8A4B5370-B224-45A2-9063-956BF9A4E1F7}" srcId="{5033F97A-02E3-4151-B4E1-F871A5A6483A}" destId="{6727148C-4F11-49DC-BABA-6771278DA764}" srcOrd="1" destOrd="0" parTransId="{C723FA31-0930-4090-8716-980E66E90574}" sibTransId="{1289BDCB-182F-40AC-9B4B-C9175FA0C120}"/>
    <dgm:cxn modelId="{31EBAB97-2DCC-4340-8A7D-F4725EA978A3}" type="presOf" srcId="{69ED687F-1AE6-4870-84AD-3047AFE4C62D}" destId="{F823564E-0497-43E6-A011-92BC05F680BF}" srcOrd="0" destOrd="0" presId="urn:microsoft.com/office/officeart/2018/2/layout/IconVerticalSolidList"/>
    <dgm:cxn modelId="{AC6993A3-2C3D-4A85-8E8F-4A9162B2B3A3}" srcId="{5033F97A-02E3-4151-B4E1-F871A5A6483A}" destId="{69ED687F-1AE6-4870-84AD-3047AFE4C62D}" srcOrd="4" destOrd="0" parTransId="{D11A1CFF-B353-485E-BF7F-64ED7DA55FF5}" sibTransId="{896E0EA4-73AA-446C-9831-85C8D8C2A79B}"/>
    <dgm:cxn modelId="{05B52AB2-0C19-4F5B-967A-9068F75F889D}" type="presOf" srcId="{24A9DD7A-0287-4EC4-964F-17472208C525}" destId="{21E21DF6-18B7-4387-91FF-629D13B540D6}" srcOrd="0" destOrd="0" presId="urn:microsoft.com/office/officeart/2018/2/layout/IconVerticalSolidList"/>
    <dgm:cxn modelId="{EE2291B7-962D-4BDD-B337-F064BC42EF5D}" type="presOf" srcId="{3FD5F4E0-BAE9-42D7-813A-F3412B9EA727}" destId="{EBDB62A9-0515-4350-8F3F-2B1C37386D5D}" srcOrd="0" destOrd="0" presId="urn:microsoft.com/office/officeart/2018/2/layout/IconVerticalSolidList"/>
    <dgm:cxn modelId="{FA8ABEDC-6C50-4D48-9AC0-189F9D6F1386}" srcId="{5033F97A-02E3-4151-B4E1-F871A5A6483A}" destId="{3FD5F4E0-BAE9-42D7-813A-F3412B9EA727}" srcOrd="2" destOrd="0" parTransId="{27351893-8410-4252-9D93-AA57EB6F72A9}" sibTransId="{12C41DCE-D094-44C8-9ECC-C00B9F18225D}"/>
    <dgm:cxn modelId="{CAD775E8-F77E-4152-B1E8-2A0135ABB038}" srcId="{5033F97A-02E3-4151-B4E1-F871A5A6483A}" destId="{24A9DD7A-0287-4EC4-964F-17472208C525}" srcOrd="0" destOrd="0" parTransId="{50AF6FBE-D1A0-4AE6-8401-F620AF455DBB}" sibTransId="{68F2C21E-29B3-497F-895D-E3E1F12434C1}"/>
    <dgm:cxn modelId="{41F85536-B17C-4C34-8FEF-769758A0C787}" type="presParOf" srcId="{F9460CF6-7056-4374-90D6-C6877AEA7F0A}" destId="{3E69854D-CD29-4DD1-91E7-8544530A82B3}" srcOrd="0" destOrd="0" presId="urn:microsoft.com/office/officeart/2018/2/layout/IconVerticalSolidList"/>
    <dgm:cxn modelId="{E796E8F1-C8E5-4EC0-9100-9C5477E8E9E6}" type="presParOf" srcId="{3E69854D-CD29-4DD1-91E7-8544530A82B3}" destId="{C33DFB52-806D-4834-B7D7-75526787DA23}" srcOrd="0" destOrd="0" presId="urn:microsoft.com/office/officeart/2018/2/layout/IconVerticalSolidList"/>
    <dgm:cxn modelId="{743AD675-B208-49DF-ACB3-695ECF1EC515}" type="presParOf" srcId="{3E69854D-CD29-4DD1-91E7-8544530A82B3}" destId="{0754A9D9-CD17-4842-925A-6992D2D508FA}" srcOrd="1" destOrd="0" presId="urn:microsoft.com/office/officeart/2018/2/layout/IconVerticalSolidList"/>
    <dgm:cxn modelId="{71F648E8-220A-4AAB-B9EC-355609DA5E42}" type="presParOf" srcId="{3E69854D-CD29-4DD1-91E7-8544530A82B3}" destId="{811BC048-1BED-48E7-BCE7-EE04504B1180}" srcOrd="2" destOrd="0" presId="urn:microsoft.com/office/officeart/2018/2/layout/IconVerticalSolidList"/>
    <dgm:cxn modelId="{2A954A40-4BF5-4607-942D-3D9B5E4EB960}" type="presParOf" srcId="{3E69854D-CD29-4DD1-91E7-8544530A82B3}" destId="{21E21DF6-18B7-4387-91FF-629D13B540D6}" srcOrd="3" destOrd="0" presId="urn:microsoft.com/office/officeart/2018/2/layout/IconVerticalSolidList"/>
    <dgm:cxn modelId="{4EE8FC34-5958-48C0-ABA2-F58EFB1C7048}" type="presParOf" srcId="{F9460CF6-7056-4374-90D6-C6877AEA7F0A}" destId="{61240111-4A01-4F9B-8A9C-8EB86C7DA237}" srcOrd="1" destOrd="0" presId="urn:microsoft.com/office/officeart/2018/2/layout/IconVerticalSolidList"/>
    <dgm:cxn modelId="{5738EBE7-8588-48FE-AC6D-9EC02165A3CC}" type="presParOf" srcId="{F9460CF6-7056-4374-90D6-C6877AEA7F0A}" destId="{5160A2B5-F5A4-4E22-83D9-C1B49E0CFFE1}" srcOrd="2" destOrd="0" presId="urn:microsoft.com/office/officeart/2018/2/layout/IconVerticalSolidList"/>
    <dgm:cxn modelId="{CF13B920-2ACA-455F-8F14-EF51D965912E}" type="presParOf" srcId="{5160A2B5-F5A4-4E22-83D9-C1B49E0CFFE1}" destId="{618DAB86-6562-401A-81B2-21713367C10B}" srcOrd="0" destOrd="0" presId="urn:microsoft.com/office/officeart/2018/2/layout/IconVerticalSolidList"/>
    <dgm:cxn modelId="{14CBC3A1-8AD6-4135-91E3-241D8FDA2AEA}" type="presParOf" srcId="{5160A2B5-F5A4-4E22-83D9-C1B49E0CFFE1}" destId="{9665FF71-72E9-4EE7-900D-BDA54C3AFE87}" srcOrd="1" destOrd="0" presId="urn:microsoft.com/office/officeart/2018/2/layout/IconVerticalSolidList"/>
    <dgm:cxn modelId="{6A472475-91C8-4D60-BB9B-0F3F07D96314}" type="presParOf" srcId="{5160A2B5-F5A4-4E22-83D9-C1B49E0CFFE1}" destId="{9159954F-5D2F-40EA-B8BD-C37D80D5DD5B}" srcOrd="2" destOrd="0" presId="urn:microsoft.com/office/officeart/2018/2/layout/IconVerticalSolidList"/>
    <dgm:cxn modelId="{0DC722C5-CF80-4522-BB10-4E012959EF16}" type="presParOf" srcId="{5160A2B5-F5A4-4E22-83D9-C1B49E0CFFE1}" destId="{9E7FED8E-5059-47D9-83AC-7CED31884575}" srcOrd="3" destOrd="0" presId="urn:microsoft.com/office/officeart/2018/2/layout/IconVerticalSolidList"/>
    <dgm:cxn modelId="{89318D6E-CBA3-4B19-BA73-973B9AAA9D6C}" type="presParOf" srcId="{F9460CF6-7056-4374-90D6-C6877AEA7F0A}" destId="{91AB6EF5-79A9-4161-9A8C-FC689AFB8C51}" srcOrd="3" destOrd="0" presId="urn:microsoft.com/office/officeart/2018/2/layout/IconVerticalSolidList"/>
    <dgm:cxn modelId="{5993FC2B-3A18-462E-9CF3-8C36FEEFE746}" type="presParOf" srcId="{F9460CF6-7056-4374-90D6-C6877AEA7F0A}" destId="{3AC1DCC2-B01F-4906-AF64-85BEA3584C79}" srcOrd="4" destOrd="0" presId="urn:microsoft.com/office/officeart/2018/2/layout/IconVerticalSolidList"/>
    <dgm:cxn modelId="{CF3BB12F-8BE4-4393-B8AC-B76383971051}" type="presParOf" srcId="{3AC1DCC2-B01F-4906-AF64-85BEA3584C79}" destId="{564EFC81-1274-45A1-BC32-19084498FEEF}" srcOrd="0" destOrd="0" presId="urn:microsoft.com/office/officeart/2018/2/layout/IconVerticalSolidList"/>
    <dgm:cxn modelId="{E79A132D-5E89-455F-96DF-41995A8FD117}" type="presParOf" srcId="{3AC1DCC2-B01F-4906-AF64-85BEA3584C79}" destId="{89F3196F-08FB-42FE-A98A-4AD7A3C10AA1}" srcOrd="1" destOrd="0" presId="urn:microsoft.com/office/officeart/2018/2/layout/IconVerticalSolidList"/>
    <dgm:cxn modelId="{9C71E5CC-4E42-4C52-ABC1-74BE9E36EA3A}" type="presParOf" srcId="{3AC1DCC2-B01F-4906-AF64-85BEA3584C79}" destId="{201E5C99-3150-49FC-9A44-D1DDEABC8E1F}" srcOrd="2" destOrd="0" presId="urn:microsoft.com/office/officeart/2018/2/layout/IconVerticalSolidList"/>
    <dgm:cxn modelId="{899D9786-30F5-4DF8-AAF8-005FEF638CE6}" type="presParOf" srcId="{3AC1DCC2-B01F-4906-AF64-85BEA3584C79}" destId="{EBDB62A9-0515-4350-8F3F-2B1C37386D5D}" srcOrd="3" destOrd="0" presId="urn:microsoft.com/office/officeart/2018/2/layout/IconVerticalSolidList"/>
    <dgm:cxn modelId="{21C7CA94-EC4F-4967-A1C7-DCD121082363}" type="presParOf" srcId="{F9460CF6-7056-4374-90D6-C6877AEA7F0A}" destId="{017B6534-2110-498C-BC9E-066E049B26B3}" srcOrd="5" destOrd="0" presId="urn:microsoft.com/office/officeart/2018/2/layout/IconVerticalSolidList"/>
    <dgm:cxn modelId="{FBB7171C-62E5-4092-BE84-6DAFC8DAB2A7}" type="presParOf" srcId="{F9460CF6-7056-4374-90D6-C6877AEA7F0A}" destId="{65EF6157-B3DF-4DCA-92CC-0E753EB3E1E1}" srcOrd="6" destOrd="0" presId="urn:microsoft.com/office/officeart/2018/2/layout/IconVerticalSolidList"/>
    <dgm:cxn modelId="{FCDA987F-AEAF-4AE4-9A12-F94841454ED6}" type="presParOf" srcId="{65EF6157-B3DF-4DCA-92CC-0E753EB3E1E1}" destId="{BB3F17CC-FB57-4461-8D36-6DF00CA44FC0}" srcOrd="0" destOrd="0" presId="urn:microsoft.com/office/officeart/2018/2/layout/IconVerticalSolidList"/>
    <dgm:cxn modelId="{08D32C53-D81F-4832-9863-9474641D1566}" type="presParOf" srcId="{65EF6157-B3DF-4DCA-92CC-0E753EB3E1E1}" destId="{AB7A177E-30EC-41D8-8A8C-9C0B2B76CE47}" srcOrd="1" destOrd="0" presId="urn:microsoft.com/office/officeart/2018/2/layout/IconVerticalSolidList"/>
    <dgm:cxn modelId="{B39EBE41-F040-46FB-8D21-53FAC381B89C}" type="presParOf" srcId="{65EF6157-B3DF-4DCA-92CC-0E753EB3E1E1}" destId="{DEE468F6-D908-467A-92AF-96C854C34B87}" srcOrd="2" destOrd="0" presId="urn:microsoft.com/office/officeart/2018/2/layout/IconVerticalSolidList"/>
    <dgm:cxn modelId="{994FB42B-37F1-456F-B408-8A80703E6DC8}" type="presParOf" srcId="{65EF6157-B3DF-4DCA-92CC-0E753EB3E1E1}" destId="{AB51782B-E830-42CB-8912-1D6F8B9713A9}" srcOrd="3" destOrd="0" presId="urn:microsoft.com/office/officeart/2018/2/layout/IconVerticalSolidList"/>
    <dgm:cxn modelId="{2346DB58-C981-487D-AD2C-C9B887A9FC5D}" type="presParOf" srcId="{F9460CF6-7056-4374-90D6-C6877AEA7F0A}" destId="{967A7203-2883-4E2A-BF37-7481A429F653}" srcOrd="7" destOrd="0" presId="urn:microsoft.com/office/officeart/2018/2/layout/IconVerticalSolidList"/>
    <dgm:cxn modelId="{F2970AC8-1DDA-4A97-8F93-F08723A4CFE9}" type="presParOf" srcId="{F9460CF6-7056-4374-90D6-C6877AEA7F0A}" destId="{4DD0C0D1-EFF9-4367-9716-8BB88D165070}" srcOrd="8" destOrd="0" presId="urn:microsoft.com/office/officeart/2018/2/layout/IconVerticalSolidList"/>
    <dgm:cxn modelId="{C3E63446-04E7-4002-98E3-FE74177CEDD0}" type="presParOf" srcId="{4DD0C0D1-EFF9-4367-9716-8BB88D165070}" destId="{12F7FFF9-4C03-4A09-A96A-A36CEA11595F}" srcOrd="0" destOrd="0" presId="urn:microsoft.com/office/officeart/2018/2/layout/IconVerticalSolidList"/>
    <dgm:cxn modelId="{186F66A5-B682-4228-9166-F1AC34D60DED}" type="presParOf" srcId="{4DD0C0D1-EFF9-4367-9716-8BB88D165070}" destId="{41029D9A-D3F8-48F2-A996-E0A8A6BBCEF6}" srcOrd="1" destOrd="0" presId="urn:microsoft.com/office/officeart/2018/2/layout/IconVerticalSolidList"/>
    <dgm:cxn modelId="{D5824BCD-ACBB-452E-8E33-3717F69C1F30}" type="presParOf" srcId="{4DD0C0D1-EFF9-4367-9716-8BB88D165070}" destId="{AE7A750E-96F8-4B20-A0CC-42ED0609B7B8}" srcOrd="2" destOrd="0" presId="urn:microsoft.com/office/officeart/2018/2/layout/IconVerticalSolidList"/>
    <dgm:cxn modelId="{33356A0D-942C-4F01-8DE0-A486802FD9E1}" type="presParOf" srcId="{4DD0C0D1-EFF9-4367-9716-8BB88D165070}" destId="{F823564E-0497-43E6-A011-92BC05F680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3DFB52-806D-4834-B7D7-75526787DA23}">
      <dsp:nvSpPr>
        <dsp:cNvPr id="0" name=""/>
        <dsp:cNvSpPr/>
      </dsp:nvSpPr>
      <dsp:spPr>
        <a:xfrm>
          <a:off x="0" y="2550"/>
          <a:ext cx="8520600" cy="543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54A9D9-CD17-4842-925A-6992D2D508FA}">
      <dsp:nvSpPr>
        <dsp:cNvPr id="0" name=""/>
        <dsp:cNvSpPr/>
      </dsp:nvSpPr>
      <dsp:spPr>
        <a:xfrm>
          <a:off x="164323" y="124774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21DF6-18B7-4387-91FF-629D13B540D6}">
      <dsp:nvSpPr>
        <dsp:cNvPr id="0" name=""/>
        <dsp:cNvSpPr/>
      </dsp:nvSpPr>
      <dsp:spPr>
        <a:xfrm>
          <a:off x="627416" y="2550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Models Evaluated (with class weighting for imbalance):</a:t>
          </a:r>
          <a:endParaRPr lang="en-US" sz="1900" kern="1200"/>
        </a:p>
      </dsp:txBody>
      <dsp:txXfrm>
        <a:off x="627416" y="2550"/>
        <a:ext cx="7893183" cy="543217"/>
      </dsp:txXfrm>
    </dsp:sp>
    <dsp:sp modelId="{618DAB86-6562-401A-81B2-21713367C10B}">
      <dsp:nvSpPr>
        <dsp:cNvPr id="0" name=""/>
        <dsp:cNvSpPr/>
      </dsp:nvSpPr>
      <dsp:spPr>
        <a:xfrm>
          <a:off x="0" y="681572"/>
          <a:ext cx="8520600" cy="543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65FF71-72E9-4EE7-900D-BDA54C3AFE87}">
      <dsp:nvSpPr>
        <dsp:cNvPr id="0" name=""/>
        <dsp:cNvSpPr/>
      </dsp:nvSpPr>
      <dsp:spPr>
        <a:xfrm>
          <a:off x="164323" y="803796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FED8E-5059-47D9-83AC-7CED31884575}">
      <dsp:nvSpPr>
        <dsp:cNvPr id="0" name=""/>
        <dsp:cNvSpPr/>
      </dsp:nvSpPr>
      <dsp:spPr>
        <a:xfrm>
          <a:off x="627416" y="681572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Logistic Regression</a:t>
          </a:r>
        </a:p>
      </dsp:txBody>
      <dsp:txXfrm>
        <a:off x="627416" y="681572"/>
        <a:ext cx="7893183" cy="543217"/>
      </dsp:txXfrm>
    </dsp:sp>
    <dsp:sp modelId="{564EFC81-1274-45A1-BC32-19084498FEEF}">
      <dsp:nvSpPr>
        <dsp:cNvPr id="0" name=""/>
        <dsp:cNvSpPr/>
      </dsp:nvSpPr>
      <dsp:spPr>
        <a:xfrm>
          <a:off x="0" y="1360595"/>
          <a:ext cx="8520600" cy="543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3196F-08FB-42FE-A98A-4AD7A3C10AA1}">
      <dsp:nvSpPr>
        <dsp:cNvPr id="0" name=""/>
        <dsp:cNvSpPr/>
      </dsp:nvSpPr>
      <dsp:spPr>
        <a:xfrm>
          <a:off x="164323" y="1482819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B62A9-0515-4350-8F3F-2B1C37386D5D}">
      <dsp:nvSpPr>
        <dsp:cNvPr id="0" name=""/>
        <dsp:cNvSpPr/>
      </dsp:nvSpPr>
      <dsp:spPr>
        <a:xfrm>
          <a:off x="627416" y="1360595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Multinomial Naive Bayes</a:t>
          </a:r>
        </a:p>
      </dsp:txBody>
      <dsp:txXfrm>
        <a:off x="627416" y="1360595"/>
        <a:ext cx="7893183" cy="543217"/>
      </dsp:txXfrm>
    </dsp:sp>
    <dsp:sp modelId="{BB3F17CC-FB57-4461-8D36-6DF00CA44FC0}">
      <dsp:nvSpPr>
        <dsp:cNvPr id="0" name=""/>
        <dsp:cNvSpPr/>
      </dsp:nvSpPr>
      <dsp:spPr>
        <a:xfrm>
          <a:off x="0" y="2039617"/>
          <a:ext cx="8520600" cy="543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A177E-30EC-41D8-8A8C-9C0B2B76CE47}">
      <dsp:nvSpPr>
        <dsp:cNvPr id="0" name=""/>
        <dsp:cNvSpPr/>
      </dsp:nvSpPr>
      <dsp:spPr>
        <a:xfrm>
          <a:off x="164323" y="2161841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1782B-E830-42CB-8912-1D6F8B9713A9}">
      <dsp:nvSpPr>
        <dsp:cNvPr id="0" name=""/>
        <dsp:cNvSpPr/>
      </dsp:nvSpPr>
      <dsp:spPr>
        <a:xfrm>
          <a:off x="627416" y="2039617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Random Forest Classifier</a:t>
          </a:r>
        </a:p>
      </dsp:txBody>
      <dsp:txXfrm>
        <a:off x="627416" y="2039617"/>
        <a:ext cx="7893183" cy="543217"/>
      </dsp:txXfrm>
    </dsp:sp>
    <dsp:sp modelId="{12F7FFF9-4C03-4A09-A96A-A36CEA11595F}">
      <dsp:nvSpPr>
        <dsp:cNvPr id="0" name=""/>
        <dsp:cNvSpPr/>
      </dsp:nvSpPr>
      <dsp:spPr>
        <a:xfrm>
          <a:off x="0" y="2718639"/>
          <a:ext cx="8520600" cy="543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29D9A-D3F8-48F2-A996-E0A8A6BBCEF6}">
      <dsp:nvSpPr>
        <dsp:cNvPr id="0" name=""/>
        <dsp:cNvSpPr/>
      </dsp:nvSpPr>
      <dsp:spPr>
        <a:xfrm>
          <a:off x="164323" y="2840863"/>
          <a:ext cx="298769" cy="2987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3564E-0497-43E6-A011-92BC05F680BF}">
      <dsp:nvSpPr>
        <dsp:cNvPr id="0" name=""/>
        <dsp:cNvSpPr/>
      </dsp:nvSpPr>
      <dsp:spPr>
        <a:xfrm>
          <a:off x="627416" y="2718639"/>
          <a:ext cx="7893183" cy="54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491" tIns="57491" rIns="57491" bIns="574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Linear Support Vector Machine (SVM) - *Best Performer*</a:t>
          </a:r>
        </a:p>
      </dsp:txBody>
      <dsp:txXfrm>
        <a:off x="627416" y="2718639"/>
        <a:ext cx="7893183" cy="5432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4431f535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84431f535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4431f53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84431f53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44197904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44197904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200"/>
              <a:buNone/>
              <a:defRPr sz="5200">
                <a:solidFill>
                  <a:srgbClr val="FF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mbria"/>
              <a:buNone/>
              <a:defRPr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mbria"/>
              <a:buNone/>
              <a:defRPr sz="2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08483" y="127655"/>
            <a:ext cx="8520600" cy="823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600" dirty="0"/>
              <a:t>Introduction</a:t>
            </a:r>
            <a:endParaRPr sz="3600" dirty="0"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62166" y="1117104"/>
            <a:ext cx="1673850" cy="167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511759" y="3123325"/>
            <a:ext cx="20211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Jeet N. Jadhav</a:t>
            </a:r>
            <a:endParaRPr lang="en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Enrollment no:170450116008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College: SVMIT, 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Bharuch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email:</a:t>
            </a:r>
            <a:r>
              <a:rPr lang="en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</a:t>
            </a:r>
            <a:r>
              <a:rPr lang="en-IN" u="sng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jnj220412@gmail.com</a:t>
            </a:r>
            <a:r>
              <a:rPr lang="en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659871" y="3123325"/>
            <a:ext cx="2021100" cy="1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Yagnesh Limbachiya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Enrollment no:170450116012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College: 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SVMIT, Bharuch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en" sz="13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mail:(</a:t>
            </a:r>
            <a:r>
              <a:rPr lang="en" sz="1300" u="sng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yagneshlimbachiya7@gmail.com</a:t>
            </a:r>
            <a:r>
              <a:rPr lang="en" sz="13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736071" y="1128062"/>
            <a:ext cx="1671857" cy="16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983" y="1128063"/>
            <a:ext cx="1737945" cy="1673849"/>
          </a:xfrm>
          <a:prstGeom prst="rect">
            <a:avLst/>
          </a:prstGeom>
        </p:spPr>
      </p:pic>
      <p:sp>
        <p:nvSpPr>
          <p:cNvPr id="9" name="Google Shape;87;p18"/>
          <p:cNvSpPr txBox="1"/>
          <p:nvPr/>
        </p:nvSpPr>
        <p:spPr>
          <a:xfrm>
            <a:off x="6807983" y="3022325"/>
            <a:ext cx="2021100" cy="1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Priyam Patel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Enrollment no:170450116035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"/>
                <a:ea typeface="Cambria"/>
                <a:cs typeface="Cambria"/>
                <a:sym typeface="Cambria"/>
              </a:rPr>
              <a:t>College: 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SVMIT, Bharuch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lang="en" sz="13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mail:(</a:t>
            </a:r>
            <a:r>
              <a:rPr lang="en" sz="1300" u="sng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priyampatel9911@gmail.com</a:t>
            </a:r>
            <a:r>
              <a:rPr lang="en" sz="13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415925"/>
            <a:ext cx="8520600" cy="6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News Category Classification</a:t>
            </a:r>
            <a:endParaRPr sz="3600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11700" y="1303284"/>
            <a:ext cx="8520600" cy="3499944"/>
          </a:xfrm>
        </p:spPr>
        <p:txBody>
          <a:bodyPr/>
          <a:lstStyle/>
          <a:p>
            <a:pPr algn="just"/>
            <a:r>
              <a:rPr lang="en-IN" sz="2400" dirty="0"/>
              <a:t>    The model trained on this dataset could be used to identify tags for untracked news articles or to identify the type of language used in different news articles.</a:t>
            </a:r>
          </a:p>
          <a:p>
            <a:pPr algn="just"/>
            <a:br>
              <a:rPr sz="2400" dirty="0"/>
            </a:br>
            <a:r>
              <a:rPr sz="2400" dirty="0"/>
              <a:t>Updated Approach (2026):</a:t>
            </a:r>
          </a:p>
          <a:p>
            <a:pPr algn="just"/>
            <a:r>
              <a:rPr sz="2400" dirty="0"/>
              <a:t>• Replaced base notebook with robust production Python script.</a:t>
            </a:r>
          </a:p>
          <a:p>
            <a:pPr algn="just"/>
            <a:r>
              <a:rPr sz="2400" dirty="0"/>
              <a:t>• Implemented full NLP preprocessing (NLTK) &amp; TF-IDF.</a:t>
            </a:r>
          </a:p>
          <a:p>
            <a:pPr algn="just"/>
            <a:r>
              <a:rPr sz="2400" dirty="0"/>
              <a:t>• Evaluated 4 Classification Models to find the best F1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rgbClr val="FF0000"/>
              </a:buClr>
              <a:buSzPts val="4800"/>
            </a:pPr>
            <a:r>
              <a:rPr lang="en-US" sz="1900" b="0" i="0" u="none" strike="noStrike" cap="none">
                <a:solidFill>
                  <a:srgbClr val="FF0000"/>
                </a:solidFill>
              </a:rPr>
              <a:t>Data Processing </a:t>
            </a:r>
          </a:p>
        </p:txBody>
      </p:sp>
      <p:sp>
        <p:nvSpPr>
          <p:cNvPr id="5" name="Rectangle 4"/>
          <p:cNvSpPr/>
          <p:nvPr/>
        </p:nvSpPr>
        <p:spPr>
          <a:xfrm>
            <a:off x="665441" y="90455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99091" y="1029915"/>
            <a:ext cx="7520007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sz="2400" b="1"/>
            </a:pPr>
            <a:r>
              <a:rPr dirty="0"/>
              <a:t>Advanced NLP Pipeline Steps:</a:t>
            </a:r>
            <a:endParaRPr lang="en-US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1. Missing Value Handling: Filled missing authors with 'Unknown'</a:t>
            </a:r>
            <a:endParaRPr lang="en-US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2. Feature Merging: Combined Headline + Short Description</a:t>
            </a:r>
            <a:endParaRPr lang="en-US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3. Text Cleaning: Lowercasing, URL removal, special character removal</a:t>
            </a:r>
            <a:endParaRPr lang="en-US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4. NLTK Processing: </a:t>
            </a:r>
            <a:r>
              <a:rPr dirty="0" err="1"/>
              <a:t>Stopword</a:t>
            </a:r>
            <a:r>
              <a:rPr dirty="0"/>
              <a:t> removal and WordNet Lemmatization</a:t>
            </a:r>
            <a:endParaRPr lang="en-US"/>
          </a:p>
          <a:p>
            <a:pPr lvl="1">
              <a:spcAft>
                <a:spcPts val="600"/>
              </a:spcAft>
              <a:defRPr sz="1800"/>
            </a:pPr>
            <a:r>
              <a:rPr dirty="0"/>
              <a:t>5. Vectorization: TF-IDF (Unigrams &amp; Bigrams, Max 5000 features)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1" r="9737" b="51979"/>
          <a:stretch/>
        </p:blipFill>
        <p:spPr>
          <a:xfrm>
            <a:off x="0" y="497983"/>
            <a:ext cx="4435365" cy="24699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19" t="48838" r="2855"/>
          <a:stretch/>
        </p:blipFill>
        <p:spPr>
          <a:xfrm>
            <a:off x="4740165" y="497983"/>
            <a:ext cx="4214649" cy="2274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679" y="0"/>
            <a:ext cx="8520600" cy="841800"/>
          </a:xfrm>
        </p:spPr>
        <p:txBody>
          <a:bodyPr/>
          <a:lstStyle/>
          <a:p>
            <a:r>
              <a:rPr lang="en-US" dirty="0"/>
              <a:t>Data understanding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5" t="1039" r="1210" b="2250"/>
          <a:stretch/>
        </p:blipFill>
        <p:spPr>
          <a:xfrm>
            <a:off x="609601" y="841800"/>
            <a:ext cx="8008882" cy="43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2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r="8388"/>
          <a:stretch/>
        </p:blipFill>
        <p:spPr>
          <a:xfrm>
            <a:off x="168164" y="578068"/>
            <a:ext cx="4414346" cy="31696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7" r="3712"/>
          <a:stretch/>
        </p:blipFill>
        <p:spPr>
          <a:xfrm>
            <a:off x="4718644" y="578068"/>
            <a:ext cx="3857799" cy="344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7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2"/>
          <a:stretch/>
        </p:blipFill>
        <p:spPr>
          <a:xfrm>
            <a:off x="641131" y="517635"/>
            <a:ext cx="7732110" cy="349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4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rgbClr val="FF0000"/>
              </a:buClr>
              <a:buSzPts val="4800"/>
            </a:pPr>
            <a:r>
              <a:rPr lang="en-US" sz="1900" b="0" i="0" u="none" strike="noStrike" cap="none">
                <a:solidFill>
                  <a:srgbClr val="FF0000"/>
                </a:solidFill>
              </a:rPr>
              <a:t>Machine Learning </a:t>
            </a:r>
          </a:p>
        </p:txBody>
      </p:sp>
      <p:graphicFrame>
        <p:nvGraphicFramePr>
          <p:cNvPr id="10" name="TextBox 5">
            <a:extLst>
              <a:ext uri="{FF2B5EF4-FFF2-40B4-BE49-F238E27FC236}">
                <a16:creationId xmlns:a16="http://schemas.microsoft.com/office/drawing/2014/main" id="{4B5CB9C6-E986-F5D4-6EC0-EBD453B6E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3372592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359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5"/>
          <a:stretch/>
        </p:blipFill>
        <p:spPr>
          <a:xfrm>
            <a:off x="1471448" y="3676813"/>
            <a:ext cx="5917324" cy="14666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6" t="1220" r="7236"/>
          <a:stretch/>
        </p:blipFill>
        <p:spPr>
          <a:xfrm>
            <a:off x="1818290" y="0"/>
            <a:ext cx="5213131" cy="346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17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Multinomial 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0.6107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Linear SVM (Winner)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295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5140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278</Words>
  <Application>Microsoft Office PowerPoint</Application>
  <PresentationFormat>On-screen Show (16:9)</PresentationFormat>
  <Paragraphs>62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Simple Light</vt:lpstr>
      <vt:lpstr>Introduction</vt:lpstr>
      <vt:lpstr>News Category Classification</vt:lpstr>
      <vt:lpstr>PowerPoint Presentation</vt:lpstr>
      <vt:lpstr>PowerPoint Presentation</vt:lpstr>
      <vt:lpstr>Data understanding</vt:lpstr>
      <vt:lpstr>PowerPoint Presentation</vt:lpstr>
      <vt:lpstr>PowerPoint Presentation</vt:lpstr>
      <vt:lpstr>PowerPoint Presentation</vt:lpstr>
      <vt:lpstr>PowerPoint Presentation</vt:lpstr>
      <vt:lpstr>Model Evaluation Results</vt:lpstr>
      <vt:lpstr>Performance Comparison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</dc:title>
  <cp:lastModifiedBy>Priyam Patel</cp:lastModifiedBy>
  <cp:revision>23</cp:revision>
  <dcterms:modified xsi:type="dcterms:W3CDTF">2026-05-29T08:26:08Z</dcterms:modified>
</cp:coreProperties>
</file>